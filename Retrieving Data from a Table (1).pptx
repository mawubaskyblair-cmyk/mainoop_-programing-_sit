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9" r:id="rId4"/>
    <p:sldId id="260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5" r:id="rId15"/>
    <p:sldId id="274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64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jJsF6YUxcF5H5Aw1r24jNpCZVz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4" d="100"/>
          <a:sy n="54" d="100"/>
        </p:scale>
        <p:origin x="4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657445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579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have seen all of this before. Today is about getting it back into your fingers. You will be typing a lot.</a:t>
            </a:r>
            <a:endParaRPr dirty="0"/>
          </a:p>
        </p:txBody>
      </p:sp>
      <p:sp>
        <p:nvSpPr>
          <p:cNvPr id="136" name="Google Shape;1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403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76317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Never write a query against a table you haven't looked at. Run these two first, every time, on any database.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dirty="0"/>
              <a:t> means "all columns".</a:t>
            </a:r>
            <a:endParaRPr dirty="0"/>
          </a:p>
        </p:txBody>
      </p:sp>
      <p:sp>
        <p:nvSpPr>
          <p:cNvPr id="172" name="Google Shape;17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8319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ADD30DF1-982C-5E89-039B-F33B4BBE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FBC62507-5A20-3B8B-CF45-080C064693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F879EECF-795A-D8A4-420A-18A830D938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EC7D84BD-7B62-A501-C8C6-C124B95423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08782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329FB105-50EF-80F5-A7C2-2AFED03A7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6E9837C3-EB70-AEF9-D678-2581E9B43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D79A5A77-0E52-BE73-C9E0-F6F491281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7E12A6A2-D894-5B55-C8DA-3999A47F56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5450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A26D3FB6-C3BC-A29D-1628-4B73105E7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5C9BA021-203E-AD75-B151-40A2E77090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3812A684-4B73-7B34-E7EC-221B9004C7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You'll use this constantly from here on. Without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en-US" dirty="0"/>
              <a:t>, the column header is the whole expression, which looks terrible if you are to make a report.</a:t>
            </a:r>
            <a:endParaRPr dirty="0"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200A8921-8BEE-4134-347F-59A38E6B76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5232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1F1F90A6-F2A8-F4A3-2F5C-4914BCE24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098D01AD-0A0E-7122-3CF8-5003744EF3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180266CE-C1FE-BDEB-7637-79028B75A7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97F13E9A-0528-2F3D-B168-FC70030A18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9336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57DC15C4-80A5-17C4-228E-9B2595CBC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D2AD0669-4F37-6AA9-FC01-3E7457EE8E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5EB9E7C5-0CF4-AE4B-D6AB-EA5A07B08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D8528BCF-D31A-A190-D080-85B2F8CA7A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2756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598658B9-0CDE-2A23-3B09-06A519E01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203AD7A7-56FB-D687-6866-8AC450DDD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69D0DAA2-9E40-9E60-C760-AF6550C566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C1472DAA-8201-C840-2BD0-A31DDB1EA0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2372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3664D513-2C08-00DA-2DA4-34083D7D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5D8B3644-83B3-4658-F0AF-9AE0F28C65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0C342162-8CE8-7AAC-0239-E6C19F4220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Use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dirty="0"/>
              <a:t> whenever you're checking one column against a list. It's easier to read and much easier to fix later.</a:t>
            </a:r>
            <a:endParaRPr dirty="0"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837E7FB8-7D85-19D3-E9AB-1F95FA8660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2909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B8A05771-460D-BD6C-7DDF-60BECDF8A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C097F35C-3A79-2951-11B6-69201B7BB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0FC7C983-7E8E-6DCC-CB40-10510BA6B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4F1FFC68-6644-3991-B8B2-3593B34731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73929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F02683A0-A6D0-D88B-B830-7EB000C9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05C5170A-CECD-18FA-1057-ED379A006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A1562011-C772-0311-B94A-503876097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06C0DF10-10DB-7370-26F3-A6E66A2CF1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5557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8E9B1D73-1058-7419-5BEE-7B735AD57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B89D6A31-6FA4-E0ED-A7B1-A0EB15EBB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8661725A-E54E-2293-7E7F-D5EF47375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BE510004-547E-619E-C2F8-BA2E74A5EF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2634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4BBD9CAC-5049-4D84-CDA1-34143BC08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A6FE5CDA-70FE-2F06-C6C4-04F14DCA8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9386B056-B231-88B7-3787-B6E80347C5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81611154-69FB-6777-6019-9E9C132A04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66736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70C2A5D3-8F17-4DF9-4701-9E638F8E8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867EC297-BEB1-96A7-8318-D49485EE2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03ECCCDA-5EF0-BD56-0CF0-A35793744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second one doesn't give an error. It just quietly returns zero rows. Remember the rule and you'll never meet this problem.</a:t>
            </a:r>
            <a:endParaRPr dirty="0"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6365A30C-2A87-F449-2280-AE1083CB50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0882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2707B97A-C6A9-3C55-B35C-C5E992D0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6116979C-5E85-8A71-C4D1-971F796010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D2484C71-F10E-DA19-3186-65EF0F812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9354D153-C18F-D63D-15CB-4BB00DA23F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85749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024B67A7-E6C1-859B-DA33-104E095F7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7DF6BA8E-47A7-6C52-D46E-AA21743BE5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AB354CA3-5F5B-2F51-5BE3-096C0775EC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Run the first one, then the second. Useful whenever you want to know "what values actually exist in this column?"</a:t>
            </a:r>
            <a:endParaRPr dirty="0"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643D2E72-8644-AC60-0B51-ACC8CD37952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2277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6507235F-43C0-D984-9F90-6ED6DCAA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8A33AA0D-A663-909F-5C30-54DAB24EE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7402621D-84D7-12BB-FEE0-B563CC7F15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16479F4D-7887-CEFF-DB85-5669F919B9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3986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CC0C3B8C-AA80-A7AC-D09E-6EAAA1439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CDB1AD18-00E8-4D33-70C9-2C15388179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5E6A548A-10ED-F416-65E6-369E2E0A3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23EA0A80-D062-D8FB-47F1-F7274FBD89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3874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5A985ACC-26A6-7ADB-EA72-2C48288A9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>
            <a:extLst>
              <a:ext uri="{FF2B5EF4-FFF2-40B4-BE49-F238E27FC236}">
                <a16:creationId xmlns:a16="http://schemas.microsoft.com/office/drawing/2014/main" id="{CCF5E74E-F53C-0246-47B3-D4BF569B5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5:notes">
            <a:extLst>
              <a:ext uri="{FF2B5EF4-FFF2-40B4-BE49-F238E27FC236}">
                <a16:creationId xmlns:a16="http://schemas.microsoft.com/office/drawing/2014/main" id="{C21A7D71-DFF9-258D-6754-9D28A2C8F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 error message either way. Just a different answer. Brackets make your meaning certain.</a:t>
            </a:r>
            <a:endParaRPr dirty="0"/>
          </a:p>
        </p:txBody>
      </p:sp>
      <p:sp>
        <p:nvSpPr>
          <p:cNvPr id="172" name="Google Shape;172;p5:notes">
            <a:extLst>
              <a:ext uri="{FF2B5EF4-FFF2-40B4-BE49-F238E27FC236}">
                <a16:creationId xmlns:a16="http://schemas.microsoft.com/office/drawing/2014/main" id="{380F5FCD-E088-6E20-BE54-37314BF085D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33141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every "Top 10" list on every website you use is built.</a:t>
            </a:r>
            <a:endParaRPr lang="en-U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36621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function but with one extra line you get a completely different answer. This is how every summary report and dashboard gets built.</a:t>
            </a:r>
            <a:endParaRPr lang="en-U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49441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dirty="0"/>
              <a:t> throws away rows. Then we group. Then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HAVING</a:t>
            </a:r>
            <a:r>
              <a:rPr lang="en-US" dirty="0"/>
              <a:t> throws away whole groups.</a:t>
            </a:r>
            <a:endParaRPr lang="en-U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151689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ever get stuck on where a clause goes, this list is the answer. It's the most useful thing you'll take out of today.</a:t>
            </a:r>
            <a:endParaRPr lang="en-U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55615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single thing we covered today, in one query.</a:t>
            </a:r>
            <a:endParaRPr lang="en-U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lang="en-GB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61699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5525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info@ucu.ac.ug" TargetMode="External"/><Relationship Id="rId5" Type="http://schemas.openxmlformats.org/officeDocument/2006/relationships/hyperlink" Target="https://ucu.ac.ug/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6000"/>
              <a:buFont typeface="Trebuchet M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solidFill>
            <a:srgbClr val="D7014D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solidFill>
            <a:srgbClr val="FFD932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">
  <p:cSld name="Last Slide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ftr" idx="11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" name="Google Shape;72;p18"/>
          <p:cNvGrpSpPr/>
          <p:nvPr/>
        </p:nvGrpSpPr>
        <p:grpSpPr>
          <a:xfrm>
            <a:off x="888267" y="4604423"/>
            <a:ext cx="5551131" cy="1360803"/>
            <a:chOff x="3063490" y="4400284"/>
            <a:chExt cx="5551131" cy="1360803"/>
          </a:xfrm>
        </p:grpSpPr>
        <p:grpSp>
          <p:nvGrpSpPr>
            <p:cNvPr id="73" name="Google Shape;73;p18"/>
            <p:cNvGrpSpPr/>
            <p:nvPr/>
          </p:nvGrpSpPr>
          <p:grpSpPr>
            <a:xfrm>
              <a:off x="4215162" y="4400284"/>
              <a:ext cx="4399459" cy="1360286"/>
              <a:chOff x="3595675" y="3836538"/>
              <a:chExt cx="5247402" cy="1632365"/>
            </a:xfrm>
          </p:grpSpPr>
          <p:pic>
            <p:nvPicPr>
              <p:cNvPr id="74" name="Google Shape;74;p18" descr="facebook instagram whatsapp PNG image with transparent background | TOPpng"/>
              <p:cNvPicPr preferRelativeResize="0"/>
              <p:nvPr/>
            </p:nvPicPr>
            <p:blipFill rotWithShape="1">
              <a:blip r:embed="rId2">
                <a:alphaModFix/>
              </a:blip>
              <a:srcRect r="66494" b="67238"/>
              <a:stretch/>
            </p:blipFill>
            <p:spPr>
              <a:xfrm>
                <a:off x="3693167" y="4915321"/>
                <a:ext cx="249211" cy="25915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" name="Google Shape;75;p18" descr="facebook instagram whatsapp PNG image with transparent background | TOPpng"/>
              <p:cNvPicPr preferRelativeResize="0"/>
              <p:nvPr/>
            </p:nvPicPr>
            <p:blipFill rotWithShape="1">
              <a:blip r:embed="rId3">
                <a:alphaModFix/>
              </a:blip>
              <a:srcRect l="67402" b="69905"/>
              <a:stretch/>
            </p:blipFill>
            <p:spPr>
              <a:xfrm>
                <a:off x="3685804" y="5173122"/>
                <a:ext cx="263933" cy="25916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" name="Google Shape;76;p18" descr="Round black telephone logo, Telephone Icon, Phone File, electronics, logo,  black And White png | PNGWi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3693167" y="4579064"/>
                <a:ext cx="249209" cy="2591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18"/>
              <p:cNvSpPr txBox="1"/>
              <p:nvPr/>
            </p:nvSpPr>
            <p:spPr>
              <a:xfrm>
                <a:off x="3943860" y="4840719"/>
                <a:ext cx="2964236" cy="332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00000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@ugandachristianuniversity</a:t>
                </a:r>
                <a:endParaRPr sz="1200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78" name="Google Shape;78;p18"/>
              <p:cNvSpPr txBox="1"/>
              <p:nvPr/>
            </p:nvSpPr>
            <p:spPr>
              <a:xfrm>
                <a:off x="6724749" y="4848559"/>
                <a:ext cx="1781016" cy="36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35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</a:t>
                </a:r>
                <a:r>
                  <a:rPr lang="en-GB" sz="120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UCUniversity</a:t>
                </a:r>
                <a:endParaRPr sz="135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79" name="Google Shape;79;p18"/>
              <p:cNvSpPr txBox="1"/>
              <p:nvPr/>
            </p:nvSpPr>
            <p:spPr>
              <a:xfrm>
                <a:off x="3961223" y="5136500"/>
                <a:ext cx="3240066" cy="3324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00">
                    <a:solidFill>
                      <a:srgbClr val="0C0C0C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@UgandaChristianUniversity</a:t>
                </a:r>
                <a:endParaRPr sz="12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sp>
            <p:nvSpPr>
              <p:cNvPr id="80" name="Google Shape;80;p18"/>
              <p:cNvSpPr txBox="1"/>
              <p:nvPr/>
            </p:nvSpPr>
            <p:spPr>
              <a:xfrm>
                <a:off x="3619181" y="4118017"/>
                <a:ext cx="5223896" cy="7202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P.O. Box 4 Mukono, Uganda</a:t>
                </a:r>
                <a:endParaRPr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Tel: 256-312-350800</a:t>
                </a:r>
                <a:endParaRPr/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FF"/>
                  </a:buClr>
                  <a:buSzPts val="1100"/>
                  <a:buFont typeface="Trebuchet MS"/>
                  <a:buNone/>
                </a:pPr>
                <a:r>
                  <a:rPr lang="en-GB" sz="1100" u="sng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     https://ucu.ac.ug/</a:t>
                </a:r>
                <a:r>
                  <a:rPr lang="en-GB" sz="1100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</a:t>
                </a:r>
                <a:r>
                  <a:rPr lang="en-GB" sz="1100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   Email: </a:t>
                </a:r>
                <a:r>
                  <a:rPr lang="en-GB" sz="1100" u="sng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info@ucu.ac.ug</a:t>
                </a:r>
                <a:r>
                  <a:rPr lang="en-GB" sz="1100">
                    <a:solidFill>
                      <a:srgbClr val="0000FF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.   </a:t>
                </a:r>
                <a:endParaRPr/>
              </a:p>
            </p:txBody>
          </p:sp>
          <p:sp>
            <p:nvSpPr>
              <p:cNvPr id="81" name="Google Shape;81;p18"/>
              <p:cNvSpPr txBox="1"/>
              <p:nvPr/>
            </p:nvSpPr>
            <p:spPr>
              <a:xfrm>
                <a:off x="3595675" y="3836538"/>
                <a:ext cx="4174870" cy="4062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 b="1">
                    <a:solidFill>
                      <a:srgbClr val="1E4E79"/>
                    </a:solidFill>
                    <a:latin typeface="Trebuchet MS"/>
                    <a:ea typeface="Trebuchet MS"/>
                    <a:cs typeface="Trebuchet MS"/>
                    <a:sym typeface="Trebuchet MS"/>
                  </a:rPr>
                  <a:t>Uganda Christian University</a:t>
                </a:r>
                <a:endParaRPr sz="1600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endParaRPr>
              </a:p>
            </p:txBody>
          </p:sp>
          <p:pic>
            <p:nvPicPr>
              <p:cNvPr id="82" name="Google Shape;82;p18" descr="facebook instagram whatsapp PNG image with transparent background | TOPpng"/>
              <p:cNvPicPr preferRelativeResize="0"/>
              <p:nvPr/>
            </p:nvPicPr>
            <p:blipFill rotWithShape="1">
              <a:blip r:embed="rId3">
                <a:alphaModFix/>
              </a:blip>
              <a:srcRect t="34921" r="64675" b="31937"/>
              <a:stretch/>
            </p:blipFill>
            <p:spPr>
              <a:xfrm>
                <a:off x="6492923" y="4908033"/>
                <a:ext cx="260459" cy="25990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3" name="Google Shape;83;p18"/>
            <p:cNvPicPr preferRelativeResize="0"/>
            <p:nvPr/>
          </p:nvPicPr>
          <p:blipFill rotWithShape="1">
            <a:blip r:embed="rId7">
              <a:alphaModFix/>
            </a:blip>
            <a:srcRect l="4177" t="16271" r="77310" b="16736"/>
            <a:stretch/>
          </p:blipFill>
          <p:spPr>
            <a:xfrm>
              <a:off x="3063490" y="4440462"/>
              <a:ext cx="1197778" cy="13206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4" name="Google Shape;84;p18" descr="Red button thank you icon Royalty Free Vector Image"/>
          <p:cNvPicPr preferRelativeResize="0"/>
          <p:nvPr/>
        </p:nvPicPr>
        <p:blipFill rotWithShape="1">
          <a:blip r:embed="rId8">
            <a:alphaModFix/>
          </a:blip>
          <a:srcRect b="13042"/>
          <a:stretch/>
        </p:blipFill>
        <p:spPr>
          <a:xfrm>
            <a:off x="5409985" y="1899157"/>
            <a:ext cx="1825644" cy="17041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8"/>
          <p:cNvGrpSpPr/>
          <p:nvPr/>
        </p:nvGrpSpPr>
        <p:grpSpPr>
          <a:xfrm>
            <a:off x="8223082" y="4505034"/>
            <a:ext cx="4710416" cy="1774757"/>
            <a:chOff x="4261082" y="3159912"/>
            <a:chExt cx="5618294" cy="2129734"/>
          </a:xfrm>
        </p:grpSpPr>
        <p:pic>
          <p:nvPicPr>
            <p:cNvPr id="86" name="Google Shape;86;p18" descr="facebook instagram whatsapp PNG image with transparent background | TOPpng"/>
            <p:cNvPicPr preferRelativeResize="0"/>
            <p:nvPr/>
          </p:nvPicPr>
          <p:blipFill rotWithShape="1">
            <a:blip r:embed="rId2">
              <a:alphaModFix/>
            </a:blip>
            <a:srcRect r="66494" b="67238"/>
            <a:stretch/>
          </p:blipFill>
          <p:spPr>
            <a:xfrm>
              <a:off x="4333142" y="4196730"/>
              <a:ext cx="277638" cy="288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8" descr="Round black telephone logo, Telephone Icon, Phone File, electronics, logo,  black And White png | PNGWi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362423" y="4497666"/>
              <a:ext cx="245303" cy="2550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p18"/>
            <p:cNvSpPr txBox="1"/>
            <p:nvPr/>
          </p:nvSpPr>
          <p:spPr>
            <a:xfrm>
              <a:off x="4629313" y="4929543"/>
              <a:ext cx="2964236" cy="360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89" name="Google Shape;89;p18"/>
            <p:cNvSpPr txBox="1"/>
            <p:nvPr/>
          </p:nvSpPr>
          <p:spPr>
            <a:xfrm>
              <a:off x="4547946" y="4468247"/>
              <a:ext cx="1959178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https://cse.ucu.ac.ug/</a:t>
              </a:r>
              <a:endParaRPr sz="1100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0" name="Google Shape;90;p18"/>
            <p:cNvSpPr txBox="1"/>
            <p:nvPr/>
          </p:nvSpPr>
          <p:spPr>
            <a:xfrm>
              <a:off x="6285518" y="4170852"/>
              <a:ext cx="1750610" cy="3324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@ucu_ComputEng</a:t>
              </a:r>
              <a:endParaRPr sz="1200">
                <a:solidFill>
                  <a:srgbClr val="0C0C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1" name="Google Shape;91;p18"/>
            <p:cNvSpPr txBox="1"/>
            <p:nvPr/>
          </p:nvSpPr>
          <p:spPr>
            <a:xfrm>
              <a:off x="4547946" y="4152767"/>
              <a:ext cx="1581881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C0C0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@ucucomputeng</a:t>
              </a:r>
              <a:endParaRPr sz="1100">
                <a:solidFill>
                  <a:srgbClr val="0C0C0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92" name="Google Shape;92;p18"/>
            <p:cNvSpPr txBox="1"/>
            <p:nvPr/>
          </p:nvSpPr>
          <p:spPr>
            <a:xfrm>
              <a:off x="4281392" y="3800378"/>
              <a:ext cx="5597984" cy="3139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Tel: +256 (0) 312 350 863 | WhatsApp: +256 (0) 708 114 300</a:t>
              </a:r>
              <a:endParaRPr/>
            </a:p>
          </p:txBody>
        </p:sp>
        <p:sp>
          <p:nvSpPr>
            <p:cNvPr id="93" name="Google Shape;93;p18"/>
            <p:cNvSpPr txBox="1"/>
            <p:nvPr/>
          </p:nvSpPr>
          <p:spPr>
            <a:xfrm>
              <a:off x="4261082" y="3159912"/>
              <a:ext cx="5597985" cy="627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1E4E79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Department of Computing &amp; Technology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C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FACULTY OF ENGINEERING, DESIGN AND TECHNOLOGY</a:t>
              </a:r>
              <a:endParaRPr sz="120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pic>
          <p:nvPicPr>
            <p:cNvPr id="94" name="Google Shape;94;p18" descr="facebook instagram whatsapp PNG image with transparent background | TOPpng"/>
            <p:cNvPicPr preferRelativeResize="0"/>
            <p:nvPr/>
          </p:nvPicPr>
          <p:blipFill rotWithShape="1">
            <a:blip r:embed="rId3">
              <a:alphaModFix/>
            </a:blip>
            <a:srcRect t="34921" r="64675" b="31937"/>
            <a:stretch/>
          </p:blipFill>
          <p:spPr>
            <a:xfrm>
              <a:off x="6070315" y="4226614"/>
              <a:ext cx="301120" cy="3004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8"/>
          <p:cNvSpPr txBox="1"/>
          <p:nvPr/>
        </p:nvSpPr>
        <p:spPr>
          <a:xfrm>
            <a:off x="10081508" y="5598486"/>
            <a:ext cx="200074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1E4E79"/>
                </a:solidFill>
                <a:latin typeface="Trebuchet MS"/>
                <a:ea typeface="Trebuchet MS"/>
                <a:cs typeface="Trebuchet MS"/>
                <a:sym typeface="Trebuchet MS"/>
              </a:rPr>
              <a:t>Email: dct-</a:t>
            </a:r>
            <a:r>
              <a:rPr lang="en-GB" sz="1100" u="sng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info@ucu.ac.ug</a:t>
            </a:r>
            <a:endParaRPr sz="1100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7631107" y="4473507"/>
            <a:ext cx="634564" cy="1407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8"/>
          <p:cNvCxnSpPr/>
          <p:nvPr/>
        </p:nvCxnSpPr>
        <p:spPr>
          <a:xfrm flipH="1">
            <a:off x="345989" y="4505034"/>
            <a:ext cx="11846011" cy="10501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6000"/>
              <a:buFont typeface="Trebuchet MS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8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376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 rot="5400000">
            <a:off x="3851275" y="-1325561"/>
            <a:ext cx="448945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❑"/>
              <a:defRPr/>
            </a:lvl1pPr>
            <a:lvl2pPr marL="914400" lvl="1" indent="-33718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710"/>
              <a:buChar char="❑"/>
              <a:defRPr/>
            </a:lvl2pPr>
            <a:lvl3pPr marL="1371600" lvl="2" indent="-331469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❑"/>
              <a:defRPr/>
            </a:lvl3pPr>
            <a:lvl4pPr marL="1828800" lvl="3" indent="-32918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84"/>
              <a:buChar char="❑"/>
              <a:defRPr/>
            </a:lvl4pPr>
            <a:lvl5pPr marL="2286000" lvl="4" indent="-32689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48"/>
              <a:buChar char="❑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2116899" y="6356350"/>
            <a:ext cx="81293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10809962" y="6356350"/>
            <a:ext cx="54383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ucu.ac.ug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mailto:info@ucu.ac.ug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76791" y="0"/>
            <a:ext cx="2415209" cy="73588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ts val="4400"/>
              <a:buFont typeface="Trebuchet MS"/>
              <a:buNone/>
              <a:defRPr sz="4400" b="0" i="0" u="none" strike="noStrike" cap="none">
                <a:solidFill>
                  <a:srgbClr val="1F497D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body" idx="1"/>
          </p:nvPr>
        </p:nvSpPr>
        <p:spPr>
          <a:xfrm>
            <a:off x="838200" y="1687514"/>
            <a:ext cx="10515600" cy="448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7014D"/>
              </a:buClr>
              <a:buSzPts val="2800"/>
              <a:buFont typeface="Noto Sans Symbols"/>
              <a:buChar char="❑"/>
              <a:defRPr sz="2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7338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B3D91"/>
              </a:buClr>
              <a:buSzPts val="228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70167"/>
              </a:buClr>
              <a:buSzPts val="180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32918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70167"/>
              </a:buClr>
              <a:buSzPts val="1584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32689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931"/>
              </a:buClr>
              <a:buSzPts val="1548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838200" y="1508126"/>
            <a:ext cx="11353800" cy="179387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" name="Google Shape;14;p10"/>
          <p:cNvSpPr/>
          <p:nvPr/>
        </p:nvSpPr>
        <p:spPr>
          <a:xfrm>
            <a:off x="0" y="1508126"/>
            <a:ext cx="838200" cy="179387"/>
          </a:xfrm>
          <a:prstGeom prst="rect">
            <a:avLst/>
          </a:prstGeom>
          <a:solidFill>
            <a:srgbClr val="D7014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" name="Google Shape;15;p10"/>
          <p:cNvSpPr/>
          <p:nvPr/>
        </p:nvSpPr>
        <p:spPr>
          <a:xfrm>
            <a:off x="838200" y="1508125"/>
            <a:ext cx="838200" cy="179387"/>
          </a:xfrm>
          <a:prstGeom prst="rect">
            <a:avLst/>
          </a:prstGeom>
          <a:solidFill>
            <a:srgbClr val="FFD9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" name="Google Shape;1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0281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ftr" idx="11"/>
          </p:nvPr>
        </p:nvSpPr>
        <p:spPr>
          <a:xfrm>
            <a:off x="2116899" y="6251714"/>
            <a:ext cx="8129391" cy="46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/>
          <p:nvPr/>
        </p:nvSpPr>
        <p:spPr>
          <a:xfrm>
            <a:off x="2116899" y="6356350"/>
            <a:ext cx="751742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i="0" u="none" strike="noStrike" cap="none">
                <a:solidFill>
                  <a:srgbClr val="0B3D91"/>
                </a:solidFill>
                <a:latin typeface="Trebuchet MS"/>
                <a:ea typeface="Trebuchet MS"/>
                <a:cs typeface="Trebuchet MS"/>
                <a:sym typeface="Trebuchet MS"/>
              </a:rPr>
              <a:t>A Complete Education for A Complete Person</a:t>
            </a:r>
            <a:b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P.O. Box 4, Mukono, Uganda, Plot 67-173, Bishop Tucker Road, Mukono Hill | Tel: +256 (0) 312 350 800 Email: 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info@ucu.ac.ug</a:t>
            </a:r>
            <a:r>
              <a:rPr lang="en-GB" sz="700" b="0" i="0" u="none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GB" sz="7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Web: 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</a:t>
            </a:r>
            <a:r>
              <a:rPr lang="en-GB" sz="700" b="0" i="0" u="sng" strike="noStrike" cap="none">
                <a:solidFill>
                  <a:srgbClr val="0000FF"/>
                </a:solidFill>
                <a:latin typeface="Trebuchet MS"/>
                <a:ea typeface="Trebuchet MS"/>
                <a:cs typeface="Trebuchet MS"/>
                <a:sym typeface="Trebuchet MS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ucu.ac.ug</a:t>
            </a:r>
            <a:endParaRPr sz="700" b="0" i="0" u="sng" strike="noStrike" cap="none">
              <a:solidFill>
                <a:srgbClr val="0000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5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Founded by the Province of the Church of Uganda. Chartered by the Government of Uganda</a:t>
            </a:r>
            <a:endParaRPr sz="650" b="0" i="0" u="none" strike="noStrike" cap="non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19" name="Google Shape;19;p10"/>
          <p:cNvCxnSpPr/>
          <p:nvPr/>
        </p:nvCxnSpPr>
        <p:spPr>
          <a:xfrm>
            <a:off x="0" y="6395027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70167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0" name="Google Shape;20;p10"/>
          <p:cNvPicPr preferRelativeResize="0"/>
          <p:nvPr/>
        </p:nvPicPr>
        <p:blipFill rotWithShape="1">
          <a:blip r:embed="rId14">
            <a:alphaModFix/>
          </a:blip>
          <a:srcRect b="42643"/>
          <a:stretch/>
        </p:blipFill>
        <p:spPr>
          <a:xfrm>
            <a:off x="0" y="5412967"/>
            <a:ext cx="1162289" cy="144503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/>
        </p:nvSpPr>
        <p:spPr>
          <a:xfrm>
            <a:off x="1007534" y="5551742"/>
            <a:ext cx="3733800" cy="820381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937001" y="5579763"/>
            <a:ext cx="3804333" cy="83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rebuchet MS"/>
              <a:buNone/>
            </a:pPr>
            <a:r>
              <a:rPr lang="en-GB" sz="2000" dirty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Ayebare Moses</a:t>
            </a:r>
            <a:endParaRPr sz="2000" b="0" u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00"/>
              <a:buFont typeface="Trebuchet MS"/>
              <a:buNone/>
            </a:pPr>
            <a:r>
              <a:rPr lang="en-GB" sz="1400" b="1" u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Computing &amp; Technology</a:t>
            </a:r>
            <a:endParaRPr dirty="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Trebuchet MS"/>
              <a:buNone/>
            </a:pPr>
            <a:r>
              <a:rPr lang="en-GB" sz="1400" b="0" u="none" dirty="0">
                <a:solidFill>
                  <a:srgbClr val="C00000"/>
                </a:solidFill>
                <a:latin typeface="Trebuchet MS"/>
                <a:ea typeface="Trebuchet MS"/>
                <a:cs typeface="Trebuchet MS"/>
                <a:sym typeface="Trebuchet MS"/>
              </a:rPr>
              <a:t>Faculty of Engineering, Design &amp; Technology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1" y="2156859"/>
            <a:ext cx="12191999" cy="1325563"/>
          </a:xfrm>
          <a:prstGeom prst="rect">
            <a:avLst/>
          </a:prstGeom>
          <a:solidFill>
            <a:srgbClr val="0A3D91"/>
          </a:solidFill>
          <a:ln w="9525" cap="flat" cmpd="sng">
            <a:solidFill>
              <a:srgbClr val="0A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ebuchet MS"/>
              <a:buNone/>
            </a:pPr>
            <a:endParaRPr sz="2800" b="0" u="none">
              <a:solidFill>
                <a:srgbClr val="FFFF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" y="2181298"/>
            <a:ext cx="12191999" cy="889481"/>
          </a:xfrm>
          <a:prstGeom prst="rect">
            <a:avLst/>
          </a:prstGeom>
          <a:noFill/>
          <a:ln w="9525" cap="flat" cmpd="sng">
            <a:solidFill>
              <a:srgbClr val="0A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lt1"/>
              </a:buClr>
              <a:buSzPts val="4800"/>
            </a:pPr>
            <a:r>
              <a:rPr lang="en-US" sz="4400" dirty="0">
                <a:solidFill>
                  <a:schemeClr val="bg1"/>
                </a:solidFill>
              </a:rPr>
              <a:t>DATABASE PROGRAMMING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132" name="Google Shape;132;p1"/>
          <p:cNvSpPr txBox="1"/>
          <p:nvPr/>
        </p:nvSpPr>
        <p:spPr>
          <a:xfrm>
            <a:off x="-2" y="2819880"/>
            <a:ext cx="12191999" cy="609120"/>
          </a:xfrm>
          <a:prstGeom prst="rect">
            <a:avLst/>
          </a:prstGeom>
          <a:noFill/>
          <a:ln w="9525" cap="flat" cmpd="sng">
            <a:solidFill>
              <a:srgbClr val="0A3D9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rgbClr val="FFFF00"/>
              </a:buClr>
              <a:buSzPts val="2800"/>
            </a:pPr>
            <a:r>
              <a:rPr lang="en-GB" sz="2800" b="0" u="none" dirty="0">
                <a:solidFill>
                  <a:srgbClr val="FFFF00"/>
                </a:solidFill>
                <a:latin typeface="Trebuchet MS"/>
                <a:ea typeface="Trebuchet MS"/>
                <a:cs typeface="Trebuchet MS"/>
                <a:sym typeface="Trebuchet MS"/>
              </a:rPr>
              <a:t> (</a:t>
            </a:r>
            <a:r>
              <a:rPr lang="en-US" sz="2800" b="0" u="none" dirty="0">
                <a:solidFill>
                  <a:srgbClr val="FFFF00"/>
                </a:solidFill>
                <a:latin typeface="Trebuchet MS"/>
                <a:ea typeface="Trebuchet MS"/>
                <a:cs typeface="Trebuchet MS"/>
                <a:sym typeface="Trebuchet MS"/>
              </a:rPr>
              <a:t>RETRIEVING DATA FROM A TABLE</a:t>
            </a:r>
            <a:r>
              <a:rPr lang="en-GB" sz="2800" b="0" u="none" dirty="0">
                <a:solidFill>
                  <a:srgbClr val="FFFF00"/>
                </a:solidFill>
                <a:latin typeface="Trebuchet MS"/>
                <a:ea typeface="Trebuchet MS"/>
                <a:cs typeface="Trebuchet MS"/>
                <a:sym typeface="Trebuchet MS"/>
              </a:rPr>
              <a:t>)</a:t>
            </a:r>
            <a:endParaRPr sz="2800" b="0" u="none" dirty="0">
              <a:solidFill>
                <a:srgbClr val="FFFF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we'll cover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SELECT and WHERE</a:t>
            </a:r>
          </a:p>
          <a:p>
            <a:r>
              <a:rPr lang="en-US" sz="2400" dirty="0"/>
              <a:t>BETWEEN, IN, LIKE</a:t>
            </a:r>
          </a:p>
          <a:p>
            <a:r>
              <a:rPr lang="en-US" sz="2400" dirty="0"/>
              <a:t>IS NULL and IS NOT NULL</a:t>
            </a:r>
          </a:p>
          <a:p>
            <a:r>
              <a:rPr lang="en-US" sz="2400" dirty="0"/>
              <a:t>DISTINCT</a:t>
            </a:r>
          </a:p>
          <a:p>
            <a:r>
              <a:rPr lang="en-US" sz="2400" dirty="0"/>
              <a:t>AND, OR, NOT</a:t>
            </a:r>
          </a:p>
          <a:p>
            <a:r>
              <a:rPr lang="en-US" sz="2400" dirty="0"/>
              <a:t>ORDER BY and LIMIT</a:t>
            </a:r>
          </a:p>
          <a:p>
            <a:r>
              <a:rPr lang="en-US" sz="2400" dirty="0"/>
              <a:t>COUNT, SUM, AVG, MIN, MAX</a:t>
            </a:r>
          </a:p>
          <a:p>
            <a:r>
              <a:rPr lang="en-US" sz="2400" dirty="0"/>
              <a:t>GROUP BY and HAVING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table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Database: </a:t>
            </a:r>
            <a:r>
              <a:rPr lang="en-US" b="1" dirty="0" err="1"/>
              <a:t>campus_shop</a:t>
            </a:r>
            <a:r>
              <a:rPr lang="en-US" dirty="0"/>
              <a:t> Table: </a:t>
            </a:r>
            <a:r>
              <a:rPr lang="en-US" b="1" dirty="0"/>
              <a:t>sale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984B6A-E2FD-4C85-5D28-B051BA2A8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997339"/>
              </p:ext>
            </p:extLst>
          </p:nvPr>
        </p:nvGraphicFramePr>
        <p:xfrm>
          <a:off x="838200" y="2321244"/>
          <a:ext cx="9780270" cy="3708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890135">
                  <a:extLst>
                    <a:ext uri="{9D8B030D-6E8A-4147-A177-3AD203B41FA5}">
                      <a16:colId xmlns:a16="http://schemas.microsoft.com/office/drawing/2014/main" val="385626363"/>
                    </a:ext>
                  </a:extLst>
                </a:gridCol>
                <a:gridCol w="4890135">
                  <a:extLst>
                    <a:ext uri="{9D8B030D-6E8A-4147-A177-3AD203B41FA5}">
                      <a16:colId xmlns:a16="http://schemas.microsoft.com/office/drawing/2014/main" val="1147257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8335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sale_id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unique number for each sale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751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item_name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was sold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614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Airtime, Snacks, Stationery, Electronics, Printing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876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campus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Mukono or Kampala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557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unit_price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price of one item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943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many were sold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249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payment_method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Cash, Card, Mobile Money — </a:t>
                      </a:r>
                      <a:r>
                        <a:rPr lang="en-US" b="1" dirty="0"/>
                        <a:t>or empty if not yet paid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5660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sold_at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date of the sale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4002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PAID, PENDING, CANCELLED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3966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Always look first.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* FROM sale;</a:t>
            </a:r>
          </a:p>
          <a:p>
            <a:endParaRPr lang="en-US" dirty="0"/>
          </a:p>
          <a:p>
            <a:r>
              <a:rPr lang="en-US" dirty="0"/>
              <a:t>DESCRIBE sale;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7D15E771-5FC0-5A81-8D94-C4733286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4900BB-226D-6BDF-D89F-76AF9DD6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and WHERE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1AB5B-7BFF-C9E5-F4C8-D8156C9D3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item_name</a:t>
            </a:r>
            <a:r>
              <a:rPr lang="en-US" dirty="0"/>
              <a:t>, </a:t>
            </a:r>
            <a:r>
              <a:rPr lang="en-US" dirty="0" err="1"/>
              <a:t>unit_price</a:t>
            </a:r>
            <a:r>
              <a:rPr lang="en-US" dirty="0"/>
              <a:t>      -- which COLUMNS</a:t>
            </a:r>
          </a:p>
          <a:p>
            <a:r>
              <a:rPr lang="en-US" dirty="0"/>
              <a:t>FROM   sale                                   -- which TABLE</a:t>
            </a:r>
          </a:p>
          <a:p>
            <a:r>
              <a:rPr lang="en-US" dirty="0"/>
              <a:t>WHERE  category = 'Snacks';           -- which ROWS</a:t>
            </a:r>
          </a:p>
          <a:p>
            <a:endParaRPr lang="en-US" dirty="0"/>
          </a:p>
          <a:p>
            <a:r>
              <a:rPr lang="en-US" dirty="0"/>
              <a:t>SELECT chooses columns</a:t>
            </a:r>
          </a:p>
          <a:p>
            <a:r>
              <a:rPr lang="en-US" dirty="0"/>
              <a:t>WHERE chooses rows</a:t>
            </a:r>
          </a:p>
          <a:p>
            <a:r>
              <a:rPr lang="en-US" dirty="0"/>
              <a:t>Text values go in </a:t>
            </a:r>
            <a:r>
              <a:rPr lang="en-US" b="1" dirty="0"/>
              <a:t>single quotes</a:t>
            </a:r>
            <a:r>
              <a:rPr lang="en-US" dirty="0"/>
              <a:t>. Numbers do not.</a:t>
            </a:r>
          </a:p>
        </p:txBody>
      </p:sp>
    </p:spTree>
    <p:extLst>
      <p:ext uri="{BB962C8B-B14F-4D97-AF65-F5344CB8AC3E}">
        <p14:creationId xmlns:p14="http://schemas.microsoft.com/office/powerpoint/2010/main" val="3669337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50D32B-90BE-F2BD-5CD9-00A40EDA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294A98-28FF-0DFB-E31C-AB8115E4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operators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DF7E7B-2260-A8C2-B89F-ED7AF7DD3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SELECT </a:t>
            </a:r>
            <a:r>
              <a:rPr lang="en-US" dirty="0" err="1"/>
              <a:t>item_name</a:t>
            </a:r>
            <a:r>
              <a:rPr lang="en-US" dirty="0"/>
              <a:t>, </a:t>
            </a:r>
            <a:r>
              <a:rPr lang="en-US" dirty="0" err="1"/>
              <a:t>unit_price</a:t>
            </a:r>
            <a:r>
              <a:rPr lang="en-US" dirty="0"/>
              <a:t> FROM sale WHERE </a:t>
            </a:r>
            <a:r>
              <a:rPr lang="en-US" dirty="0" err="1"/>
              <a:t>unit_price</a:t>
            </a:r>
            <a:r>
              <a:rPr lang="en-US" dirty="0"/>
              <a:t> &gt; 10000;</a:t>
            </a:r>
            <a:endParaRPr lang="en-U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A919DE-F5DC-8AE8-970B-3B063D1CA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498119"/>
              </p:ext>
            </p:extLst>
          </p:nvPr>
        </p:nvGraphicFramePr>
        <p:xfrm>
          <a:off x="838200" y="1687514"/>
          <a:ext cx="10515600" cy="26235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422822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91656162"/>
                    </a:ext>
                  </a:extLst>
                </a:gridCol>
              </a:tblGrid>
              <a:tr h="374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642853"/>
                  </a:ext>
                </a:extLst>
              </a:tr>
              <a:tr h="374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/>
                        <a:t>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1986126"/>
                  </a:ext>
                </a:extLst>
              </a:tr>
              <a:tr h="374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dirty="0"/>
                        <a:t>&lt;&gt;</a:t>
                      </a:r>
                      <a:r>
                        <a:rPr lang="en-US" dirty="0"/>
                        <a:t>,!=</a:t>
                      </a:r>
                      <a:endParaRPr lang="en-U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not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838731"/>
                  </a:ext>
                </a:extLst>
              </a:tr>
              <a:tr h="374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greater 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351459"/>
                  </a:ext>
                </a:extLst>
              </a:tr>
              <a:tr h="374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than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283912"/>
                  </a:ext>
                </a:extLst>
              </a:tr>
              <a:tr h="374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greater than or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881674"/>
                  </a:ext>
                </a:extLst>
              </a:tr>
              <a:tr h="374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dirty="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less than or equal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7771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71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A80C318-AD74-78CE-3E05-A5CC09855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AD5063-D8A6-7E97-15B7-F1318B32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Calculated columns and 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405D2-5320-C39B-C7D3-BAE4593FB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item_name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unit_price</a:t>
            </a:r>
            <a:r>
              <a:rPr lang="en-US" dirty="0"/>
              <a:t> * quantity AS </a:t>
            </a:r>
            <a:r>
              <a:rPr lang="en-US" dirty="0" err="1"/>
              <a:t>total_amount</a:t>
            </a:r>
            <a:endParaRPr lang="en-US" dirty="0"/>
          </a:p>
          <a:p>
            <a:r>
              <a:rPr lang="en-US" dirty="0"/>
              <a:t>FROM   sale;</a:t>
            </a:r>
          </a:p>
          <a:p>
            <a:r>
              <a:rPr lang="en-US" dirty="0"/>
              <a:t>AS gives the new column a readable name.</a:t>
            </a:r>
          </a:p>
        </p:txBody>
      </p:sp>
    </p:spTree>
    <p:extLst>
      <p:ext uri="{BB962C8B-B14F-4D97-AF65-F5344CB8AC3E}">
        <p14:creationId xmlns:p14="http://schemas.microsoft.com/office/powerpoint/2010/main" val="3480092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BED8851-74CE-9508-1BE7-18553CBD4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C56F4-EE38-8A4B-3014-94B88263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Query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49376-EBBC-02A5-A2FF-7712EB40C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</a:t>
            </a:r>
            <a:r>
              <a:rPr lang="en-US" dirty="0" err="1"/>
              <a:t>item_name</a:t>
            </a:r>
            <a:r>
              <a:rPr lang="en-US" dirty="0"/>
              <a:t> and quantity for every sale in the </a:t>
            </a:r>
            <a:r>
              <a:rPr lang="en-US" b="1" dirty="0"/>
              <a:t>Printing</a:t>
            </a:r>
            <a:r>
              <a:rPr lang="en-US" dirty="0"/>
              <a:t> category.</a:t>
            </a:r>
          </a:p>
          <a:p>
            <a:r>
              <a:rPr lang="en-US" dirty="0"/>
              <a:t>Show all sales where the quantity is </a:t>
            </a:r>
            <a:r>
              <a:rPr lang="en-US" b="1" dirty="0"/>
              <a:t>5 or more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2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46D2BC6-6B54-ABB5-8F8A-00318486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683250-1215-739F-1444-5033B56E4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BETWEEN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5CC34-7880-CB4B-6DF9-601AC8CFA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SELECT </a:t>
            </a:r>
            <a:r>
              <a:rPr lang="en-US" dirty="0" err="1"/>
              <a:t>item_name</a:t>
            </a:r>
            <a:r>
              <a:rPr lang="en-US" dirty="0"/>
              <a:t>, </a:t>
            </a:r>
            <a:r>
              <a:rPr lang="en-US" dirty="0" err="1"/>
              <a:t>unit_price</a:t>
            </a:r>
            <a:endParaRPr lang="en-US" dirty="0"/>
          </a:p>
          <a:p>
            <a:r>
              <a:rPr lang="en-US" dirty="0"/>
              <a:t>FROM   sale</a:t>
            </a:r>
          </a:p>
          <a:p>
            <a:r>
              <a:rPr lang="en-US" dirty="0"/>
              <a:t>WHERE  </a:t>
            </a:r>
            <a:r>
              <a:rPr lang="en-US" dirty="0" err="1"/>
              <a:t>unit_price</a:t>
            </a:r>
            <a:r>
              <a:rPr lang="en-US" dirty="0"/>
              <a:t> BETWEEN 1000 AND 5000;</a:t>
            </a:r>
          </a:p>
          <a:p>
            <a:r>
              <a:rPr lang="en-US" b="1" dirty="0"/>
              <a:t>Both ends are included and is exactly the same as:</a:t>
            </a:r>
          </a:p>
          <a:p>
            <a:r>
              <a:rPr lang="en-US" dirty="0"/>
              <a:t>WHERE </a:t>
            </a:r>
            <a:r>
              <a:rPr lang="en-US" dirty="0" err="1"/>
              <a:t>unit_price</a:t>
            </a:r>
            <a:r>
              <a:rPr lang="en-US" dirty="0"/>
              <a:t> &gt;= 1000 AND </a:t>
            </a:r>
            <a:r>
              <a:rPr lang="en-US" dirty="0" err="1"/>
              <a:t>unit_price</a:t>
            </a:r>
            <a:r>
              <a:rPr lang="en-US" dirty="0"/>
              <a:t> &lt;= 5000;</a:t>
            </a:r>
          </a:p>
          <a:p>
            <a:r>
              <a:rPr lang="en-US" b="1" dirty="0"/>
              <a:t>Works on dates too:</a:t>
            </a:r>
          </a:p>
          <a:p>
            <a:r>
              <a:rPr lang="en-US" dirty="0"/>
              <a:t>WHERE </a:t>
            </a:r>
            <a:r>
              <a:rPr lang="en-US" dirty="0" err="1"/>
              <a:t>sold_at</a:t>
            </a:r>
            <a:r>
              <a:rPr lang="en-US" dirty="0"/>
              <a:t> BETWEEN '2026-07-01' AND '2026-07-15’;</a:t>
            </a:r>
          </a:p>
          <a:p>
            <a:r>
              <a:rPr lang="en-US" dirty="0"/>
              <a:t>Smaller value first. NOT BETWEEN gives everything outside the range.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824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D78BCBC-D6FC-9E03-4FD5-C3931032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659ABD-7607-47EA-DED8-DD32A754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Query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397CB-D6C4-2467-9141-7B8019B9E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every sale made in </a:t>
            </a:r>
            <a:r>
              <a:rPr lang="en-US" b="1" dirty="0"/>
              <a:t>August 2026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1277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3B4CA51-0705-F0BC-B423-8187730C4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F75825-619F-E430-44C4-859FABE2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B94CD-4079-7E46-24D6-B26A8BCE3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item_name</a:t>
            </a:r>
            <a:r>
              <a:rPr lang="en-US" dirty="0"/>
              <a:t>, category</a:t>
            </a:r>
          </a:p>
          <a:p>
            <a:r>
              <a:rPr lang="en-US" dirty="0"/>
              <a:t>FROM   sale</a:t>
            </a:r>
          </a:p>
          <a:p>
            <a:r>
              <a:rPr lang="en-US" dirty="0"/>
              <a:t>WHERE  category IN ('Airtime', 'Snacks’);</a:t>
            </a:r>
          </a:p>
          <a:p>
            <a:r>
              <a:rPr lang="en-US" b="1" dirty="0"/>
              <a:t>A shorter way of writing:</a:t>
            </a:r>
          </a:p>
          <a:p>
            <a:r>
              <a:rPr lang="en-US" dirty="0"/>
              <a:t>WHERE category = 'Airtime' OR category = 'Snacks’;</a:t>
            </a:r>
          </a:p>
          <a:p>
            <a:r>
              <a:rPr lang="en-US" dirty="0"/>
              <a:t>NOT IN gives you everything else.</a:t>
            </a:r>
          </a:p>
        </p:txBody>
      </p:sp>
    </p:spTree>
    <p:extLst>
      <p:ext uri="{BB962C8B-B14F-4D97-AF65-F5344CB8AC3E}">
        <p14:creationId xmlns:p14="http://schemas.microsoft.com/office/powerpoint/2010/main" val="3048970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1F79FE79-46A5-A506-2005-B1673C13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9ADAA1-67C3-DC9F-634B-B507DC2E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Query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AA867-EC1C-2478-89FD-4C9AC01F6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all sales paid for by </a:t>
            </a:r>
            <a:r>
              <a:rPr lang="en-US" b="1" dirty="0"/>
              <a:t>Cash or Card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6214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6D798D8-477E-3ECC-5CB6-CB6EA864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03791B-51F5-6A12-BF88-DE9D3589B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2CC0E-5509-9183-3D86-0CB6DC060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For searching </a:t>
            </a:r>
            <a:r>
              <a:rPr lang="en-US" sz="2400" b="1" dirty="0"/>
              <a:t>text patterns</a:t>
            </a:r>
            <a:r>
              <a:rPr lang="en-US" sz="2400" dirty="0"/>
              <a:t>. Two wildcards: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WHERE </a:t>
            </a:r>
            <a:r>
              <a:rPr lang="en-US" sz="2400" dirty="0" err="1"/>
              <a:t>item_name</a:t>
            </a:r>
            <a:r>
              <a:rPr lang="en-US" sz="2400" dirty="0"/>
              <a:t> LIKE 'MTN%'          -- starts with MTN</a:t>
            </a:r>
          </a:p>
          <a:p>
            <a:r>
              <a:rPr lang="en-US" sz="2400" dirty="0"/>
              <a:t>WHERE </a:t>
            </a:r>
            <a:r>
              <a:rPr lang="en-US" sz="2400" dirty="0" err="1"/>
              <a:t>item_name</a:t>
            </a:r>
            <a:r>
              <a:rPr lang="en-US" sz="2400" dirty="0"/>
              <a:t> LIKE '%Book%’       -- contains Book</a:t>
            </a:r>
          </a:p>
          <a:p>
            <a:r>
              <a:rPr lang="en-US" sz="2400" dirty="0"/>
              <a:t>WHERE </a:t>
            </a:r>
            <a:r>
              <a:rPr lang="en-US" sz="2400" dirty="0" err="1"/>
              <a:t>item_name</a:t>
            </a:r>
            <a:r>
              <a:rPr lang="en-US" sz="2400" dirty="0"/>
              <a:t> LIKE '%A4'             -- ends with A4</a:t>
            </a:r>
          </a:p>
          <a:p>
            <a:r>
              <a:rPr lang="en-US" sz="2400" dirty="0"/>
              <a:t>WHERE </a:t>
            </a:r>
            <a:r>
              <a:rPr lang="en-US" sz="2400" dirty="0" err="1"/>
              <a:t>item_name</a:t>
            </a:r>
            <a:r>
              <a:rPr lang="en-US" sz="2400" dirty="0"/>
              <a:t> LIKE ‘_ _ _ _ _ _'   -- exactly 6 characters</a:t>
            </a:r>
          </a:p>
          <a:p>
            <a:r>
              <a:rPr lang="en-US" sz="2400" b="1" dirty="0"/>
              <a:t>In MySQL, LIKE ignores upper and lower case — 'mtn%' finds the same rows as 'MTN%'.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F47AE6-7BF0-64BD-881B-77D6B9840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3115151"/>
              </p:ext>
            </p:extLst>
          </p:nvPr>
        </p:nvGraphicFramePr>
        <p:xfrm>
          <a:off x="1057442" y="2316480"/>
          <a:ext cx="8128000" cy="99220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925182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03635552"/>
                    </a:ext>
                  </a:extLst>
                </a:gridCol>
              </a:tblGrid>
              <a:tr h="330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Wildcard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11437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any number of characters (including none)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56130"/>
                  </a:ext>
                </a:extLst>
              </a:tr>
              <a:tr h="330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G"/>
                        <a:t>_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exactly one 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4516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612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741FB28C-6386-4DCF-73B2-DC35CD3F7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468926-2F72-FA03-281F-2AAD724A9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Query 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ABCCA3-F770-DB7B-BAED-F5771C9A1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every item whose name contains the word </a:t>
            </a:r>
            <a:r>
              <a:rPr lang="en-US" b="1" dirty="0"/>
              <a:t>"Pen"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1795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7435E2C-BA19-D45F-A06D-57B3B143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729023-F180-8AB3-7571-93EA089EF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E0D054-28BF-07B7-518E-F48F05294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NULL means no value was recorded.</a:t>
            </a:r>
          </a:p>
          <a:p>
            <a:r>
              <a:rPr lang="en-US" dirty="0"/>
              <a:t>It is </a:t>
            </a:r>
            <a:r>
              <a:rPr lang="en-US" b="1" dirty="0"/>
              <a:t>not</a:t>
            </a:r>
            <a:r>
              <a:rPr lang="en-US" dirty="0"/>
              <a:t> zero. It is </a:t>
            </a:r>
            <a:r>
              <a:rPr lang="en-US" b="1" dirty="0"/>
              <a:t>not</a:t>
            </a:r>
            <a:r>
              <a:rPr lang="en-US" dirty="0"/>
              <a:t> empty text.</a:t>
            </a:r>
          </a:p>
          <a:p>
            <a:r>
              <a:rPr lang="en-US" dirty="0"/>
              <a:t>In our table, </a:t>
            </a:r>
            <a:r>
              <a:rPr lang="en-US" dirty="0" err="1"/>
              <a:t>payment_method</a:t>
            </a:r>
            <a:r>
              <a:rPr lang="en-US" dirty="0"/>
              <a:t> is NULL when the customer has not paid yet.</a:t>
            </a:r>
          </a:p>
          <a:p>
            <a:r>
              <a:rPr lang="en-US" dirty="0"/>
              <a:t>SELECT </a:t>
            </a:r>
            <a:r>
              <a:rPr lang="en-US" dirty="0" err="1"/>
              <a:t>item_name</a:t>
            </a:r>
            <a:r>
              <a:rPr lang="en-US" dirty="0"/>
              <a:t>, </a:t>
            </a:r>
            <a:r>
              <a:rPr lang="en-US" dirty="0" err="1"/>
              <a:t>payment_method</a:t>
            </a:r>
            <a:r>
              <a:rPr lang="en-US" dirty="0"/>
              <a:t> FROM sale WHERE </a:t>
            </a:r>
            <a:r>
              <a:rPr lang="en-US" dirty="0" err="1"/>
              <a:t>payment_method</a:t>
            </a:r>
            <a:r>
              <a:rPr lang="en-US" dirty="0"/>
              <a:t> IS NULL;</a:t>
            </a:r>
          </a:p>
          <a:p>
            <a:r>
              <a:rPr lang="en-US" dirty="0"/>
              <a:t>SELECT </a:t>
            </a:r>
            <a:r>
              <a:rPr lang="en-US" dirty="0" err="1"/>
              <a:t>item_name</a:t>
            </a:r>
            <a:r>
              <a:rPr lang="en-US" dirty="0"/>
              <a:t>, </a:t>
            </a:r>
            <a:r>
              <a:rPr lang="en-US" dirty="0" err="1"/>
              <a:t>payment_method</a:t>
            </a:r>
            <a:r>
              <a:rPr lang="en-US" dirty="0"/>
              <a:t> FROM sale WHERE </a:t>
            </a:r>
            <a:r>
              <a:rPr lang="en-US" dirty="0" err="1"/>
              <a:t>payment_method</a:t>
            </a:r>
            <a:r>
              <a:rPr lang="en-US" dirty="0"/>
              <a:t> IS NOT NULL;</a:t>
            </a:r>
          </a:p>
        </p:txBody>
      </p:sp>
    </p:spTree>
    <p:extLst>
      <p:ext uri="{BB962C8B-B14F-4D97-AF65-F5344CB8AC3E}">
        <p14:creationId xmlns:p14="http://schemas.microsoft.com/office/powerpoint/2010/main" val="1067566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D42636E0-53B5-FEFD-63AB-121A4F598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FF202E-611E-F2D7-156B-069F5D85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one NULL rule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7DE75-4340-A547-11C9-AA43F45CD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</a:t>
            </a:r>
            <a:r>
              <a:rPr lang="en-US" dirty="0" err="1"/>
              <a:t>payment_method</a:t>
            </a:r>
            <a:r>
              <a:rPr lang="en-US" dirty="0"/>
              <a:t> IS NULL      -- correct</a:t>
            </a:r>
          </a:p>
          <a:p>
            <a:r>
              <a:rPr lang="en-US" dirty="0"/>
              <a:t>WHERE </a:t>
            </a:r>
            <a:r>
              <a:rPr lang="en-US" dirty="0" err="1"/>
              <a:t>payment_method</a:t>
            </a:r>
            <a:r>
              <a:rPr lang="en-US" dirty="0"/>
              <a:t> = NULL       --always returns nothing</a:t>
            </a:r>
          </a:p>
          <a:p>
            <a:r>
              <a:rPr lang="en-US" dirty="0"/>
              <a:t>Use IS NULL. Never use  = NULL.</a:t>
            </a:r>
          </a:p>
        </p:txBody>
      </p:sp>
    </p:spTree>
    <p:extLst>
      <p:ext uri="{BB962C8B-B14F-4D97-AF65-F5344CB8AC3E}">
        <p14:creationId xmlns:p14="http://schemas.microsoft.com/office/powerpoint/2010/main" val="1025078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6C093DE0-8A9C-167B-2FA8-53831A84F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9B2C71-1201-832E-3421-79D02D36E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Query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AD8A3-BE96-E1F7-F5E8-7A5CEE8F4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</a:t>
            </a:r>
            <a:r>
              <a:rPr lang="en-US" dirty="0" err="1"/>
              <a:t>item_name</a:t>
            </a:r>
            <a:r>
              <a:rPr lang="en-US" dirty="0"/>
              <a:t> and status of every sale that has </a:t>
            </a:r>
            <a:r>
              <a:rPr lang="en-US" b="1" dirty="0"/>
              <a:t>no payment method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3042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BE5E622-8E1D-2ABF-76A4-8ABFA9FFA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8CA635-ADD0-A844-C9BF-DAA037F3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3FA25-4031-9354-D905-7C0AAD3E5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Removes repeated rows from your result.</a:t>
            </a:r>
          </a:p>
          <a:p>
            <a:r>
              <a:rPr lang="en-US" dirty="0"/>
              <a:t>SELECT category FROM sale;                 -- 24 rows, lots of repeats</a:t>
            </a:r>
          </a:p>
          <a:p>
            <a:r>
              <a:rPr lang="en-US" dirty="0"/>
              <a:t>SELECT DISTINCT category FROM sale;   -- 5 rows, each category once</a:t>
            </a:r>
          </a:p>
        </p:txBody>
      </p:sp>
    </p:spTree>
    <p:extLst>
      <p:ext uri="{BB962C8B-B14F-4D97-AF65-F5344CB8AC3E}">
        <p14:creationId xmlns:p14="http://schemas.microsoft.com/office/powerpoint/2010/main" val="480740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9AF30D4-5F2F-A692-459F-CDEF42669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F3909F-E26D-E6D9-D7B6-6BE51431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Query 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5E833-B286-A969-3336-625E80DE1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the different </a:t>
            </a:r>
            <a:r>
              <a:rPr lang="en-US" b="1" dirty="0"/>
              <a:t>payment methods</a:t>
            </a:r>
            <a:r>
              <a:rPr lang="en-US" dirty="0"/>
              <a:t> used, with no repeats.</a:t>
            </a:r>
          </a:p>
        </p:txBody>
      </p:sp>
    </p:spTree>
    <p:extLst>
      <p:ext uri="{BB962C8B-B14F-4D97-AF65-F5344CB8AC3E}">
        <p14:creationId xmlns:p14="http://schemas.microsoft.com/office/powerpoint/2010/main" val="749066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8A3B44F4-ACB6-9E1F-47DC-351C3F2CF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CA7FCF-006F-3516-2BEC-98FA8AD48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AND, OR, NOT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35773-43C9-86BE-AFA2-22341225E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 category = 'Airtime' AND campus = 'Mukono'</a:t>
            </a:r>
          </a:p>
          <a:p>
            <a:r>
              <a:rPr lang="en-US" dirty="0"/>
              <a:t>WHERE category = 'Snacks' OR category = 'Printing'</a:t>
            </a:r>
          </a:p>
          <a:p>
            <a:r>
              <a:rPr lang="en-US" dirty="0"/>
              <a:t>WHERE NOT status = 'PAID’</a:t>
            </a:r>
          </a:p>
          <a:p>
            <a:r>
              <a:rPr lang="en-US" dirty="0"/>
              <a:t>You can chain as many as you need with AND.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473A54-0D91-2C66-ED83-E75A24A2F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116996"/>
              </p:ext>
            </p:extLst>
          </p:nvPr>
        </p:nvGraphicFramePr>
        <p:xfrm>
          <a:off x="838200" y="1790476"/>
          <a:ext cx="8128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098018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33420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1399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both conditions must be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4793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 least one must be 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802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reverses a condition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656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353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313D25C9-46E6-02E5-2251-1BAF58E39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EA4B7A-DB34-8B4E-8DA8-F2FE98A41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brackets when you mix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A9512-8ABD-2131-0B3B-0F203B8F8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(category = 'Airtime' OR category = 'Snacks') AND campus = 'Mukono’   -- 8 rows</a:t>
            </a:r>
          </a:p>
          <a:p>
            <a:r>
              <a:rPr lang="en-US" dirty="0"/>
              <a:t>WHERE  category = 'Airtime' OR category = 'Snacks'  AND campus = 'Mukono’   -- 10 rows</a:t>
            </a:r>
          </a:p>
          <a:p>
            <a:r>
              <a:rPr lang="en-US" dirty="0"/>
              <a:t>Rule: when you mix AND </a:t>
            </a:r>
            <a:r>
              <a:rPr lang="en-US" dirty="0" err="1"/>
              <a:t>and</a:t>
            </a:r>
            <a:r>
              <a:rPr lang="en-US" dirty="0"/>
              <a:t> OR, always use brackets.</a:t>
            </a:r>
          </a:p>
        </p:txBody>
      </p:sp>
    </p:spTree>
    <p:extLst>
      <p:ext uri="{BB962C8B-B14F-4D97-AF65-F5344CB8AC3E}">
        <p14:creationId xmlns:p14="http://schemas.microsoft.com/office/powerpoint/2010/main" val="2701319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6BE2-D882-3EE6-E97B-5C549187F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Query 7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2994F-BFA4-9BFB-DAB8-56651D649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all </a:t>
            </a:r>
            <a:r>
              <a:rPr lang="en-US" b="1" dirty="0"/>
              <a:t>Electronics</a:t>
            </a:r>
            <a:r>
              <a:rPr lang="en-US" dirty="0"/>
              <a:t> sales in </a:t>
            </a:r>
            <a:r>
              <a:rPr lang="en-US" b="1" dirty="0"/>
              <a:t>Kampala</a:t>
            </a:r>
            <a:r>
              <a:rPr lang="en-US" dirty="0"/>
              <a:t> that cost </a:t>
            </a:r>
            <a:r>
              <a:rPr lang="en-US" b="1" dirty="0"/>
              <a:t>more than 20000</a:t>
            </a:r>
            <a:r>
              <a:rPr lang="en-US" dirty="0"/>
              <a:t>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979706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70350-E3B7-AA08-1297-D5C0C1438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812D-76D2-9ACC-9E88-6C38E02C1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C5753-6EFB-8744-B4BF-B865337D7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</a:t>
            </a:r>
            <a:r>
              <a:rPr lang="en-US" dirty="0" err="1"/>
              <a:t>item_name</a:t>
            </a:r>
            <a:r>
              <a:rPr lang="en-US" dirty="0"/>
              <a:t>, </a:t>
            </a:r>
            <a:r>
              <a:rPr lang="en-US" dirty="0" err="1"/>
              <a:t>unit_price</a:t>
            </a:r>
            <a:endParaRPr lang="en-US" dirty="0"/>
          </a:p>
          <a:p>
            <a:r>
              <a:rPr lang="en-US" dirty="0"/>
              <a:t>FROM   sale</a:t>
            </a:r>
          </a:p>
          <a:p>
            <a:r>
              <a:rPr lang="en-US" dirty="0"/>
              <a:t>ORDER  BY </a:t>
            </a:r>
            <a:r>
              <a:rPr lang="en-US" dirty="0" err="1"/>
              <a:t>unit_price</a:t>
            </a:r>
            <a:r>
              <a:rPr lang="en-US" dirty="0"/>
              <a:t> DESC;</a:t>
            </a:r>
          </a:p>
          <a:p>
            <a:r>
              <a:rPr lang="en-US" dirty="0"/>
              <a:t>ASC = smallest to largest (this is the default ,you can leave it out)</a:t>
            </a:r>
          </a:p>
          <a:p>
            <a:r>
              <a:rPr lang="en-US" dirty="0"/>
              <a:t>DESC = largest to smallest</a:t>
            </a:r>
          </a:p>
          <a:p>
            <a:r>
              <a:rPr lang="en-US" b="1" dirty="0"/>
              <a:t>Sort by more than one column:</a:t>
            </a:r>
          </a:p>
          <a:p>
            <a:r>
              <a:rPr lang="en-US" dirty="0"/>
              <a:t>ORDER BY campus ASC, </a:t>
            </a:r>
            <a:r>
              <a:rPr lang="en-US" dirty="0" err="1"/>
              <a:t>unit_price</a:t>
            </a:r>
            <a:r>
              <a:rPr lang="en-US" dirty="0"/>
              <a:t> DESC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190576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1A7B-CE19-A1D8-A226-50F1FF28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987D5-00B1-7241-209D-3DD907E06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3287D-7ACD-8AED-B75D-F98503764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only the first few rows. Very useful with ORDER BY:</a:t>
            </a:r>
          </a:p>
          <a:p>
            <a:r>
              <a:rPr lang="en-US" dirty="0"/>
              <a:t>SELECT </a:t>
            </a:r>
            <a:r>
              <a:rPr lang="en-US" dirty="0" err="1"/>
              <a:t>item_name</a:t>
            </a:r>
            <a:r>
              <a:rPr lang="en-US" dirty="0"/>
              <a:t>, </a:t>
            </a:r>
            <a:r>
              <a:rPr lang="en-US" dirty="0" err="1"/>
              <a:t>unit_price</a:t>
            </a:r>
            <a:endParaRPr lang="en-US" dirty="0"/>
          </a:p>
          <a:p>
            <a:r>
              <a:rPr lang="en-US" dirty="0"/>
              <a:t>FROM   sale</a:t>
            </a:r>
          </a:p>
          <a:p>
            <a:r>
              <a:rPr lang="en-US" dirty="0"/>
              <a:t>ORDER  BY </a:t>
            </a:r>
            <a:r>
              <a:rPr lang="en-US" dirty="0" err="1"/>
              <a:t>unit_price</a:t>
            </a:r>
            <a:r>
              <a:rPr lang="en-US" dirty="0"/>
              <a:t> DESC</a:t>
            </a:r>
          </a:p>
          <a:p>
            <a:r>
              <a:rPr lang="en-US" dirty="0"/>
              <a:t>LIMIT  5;  -- the 5 most expensive items.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9042000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9E3F0-C82A-3E42-45E0-D2607A31A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F630-6F41-EDD2-54CC-AF4659A9C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Query 8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E8EFC-41E5-7FB3-58FC-31F35588E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</a:t>
            </a:r>
            <a:r>
              <a:rPr lang="en-US" b="1" dirty="0"/>
              <a:t>3 cheapest</a:t>
            </a:r>
            <a:r>
              <a:rPr lang="en-US" dirty="0"/>
              <a:t> items in the shop.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564837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DD196-C7D8-5245-5D9E-5D9A5F999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CF435-314A-1E8A-580A-6E0F1864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 functions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B8501-01E1-74A2-598D-C78FBADE6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87514"/>
            <a:ext cx="10515600" cy="4701254"/>
          </a:xfrm>
        </p:spPr>
        <p:txBody>
          <a:bodyPr>
            <a:noAutofit/>
          </a:bodyPr>
          <a:lstStyle/>
          <a:p>
            <a:r>
              <a:rPr lang="en-US" sz="2000" dirty="0"/>
              <a:t>Up until now, every query returned </a:t>
            </a:r>
            <a:r>
              <a:rPr lang="en-US" sz="2000" b="1" dirty="0"/>
              <a:t>many rows</a:t>
            </a:r>
            <a:r>
              <a:rPr lang="en-US" sz="2000" dirty="0"/>
              <a:t>. These return </a:t>
            </a:r>
            <a:r>
              <a:rPr lang="en-US" sz="2000" b="1" dirty="0"/>
              <a:t>one row, </a:t>
            </a:r>
            <a:r>
              <a:rPr lang="en-US" sz="2000" dirty="0"/>
              <a:t>a single answer about the whole table.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114300" indent="0">
              <a:buNone/>
            </a:pP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SELECT COUNT(*)                            AS sales,</a:t>
            </a:r>
          </a:p>
          <a:p>
            <a:r>
              <a:rPr lang="en-US" sz="2000" dirty="0"/>
              <a:t>            SUM(</a:t>
            </a:r>
            <a:r>
              <a:rPr lang="en-US" sz="2000" dirty="0" err="1"/>
              <a:t>unit_price</a:t>
            </a:r>
            <a:r>
              <a:rPr lang="en-US" sz="2000" dirty="0"/>
              <a:t> * quantity)   AS </a:t>
            </a:r>
            <a:r>
              <a:rPr lang="en-US" sz="2000" dirty="0" err="1"/>
              <a:t>total_revenue</a:t>
            </a:r>
            <a:r>
              <a:rPr lang="en-US" sz="2000" dirty="0"/>
              <a:t>,</a:t>
            </a:r>
          </a:p>
          <a:p>
            <a:r>
              <a:rPr lang="en-US" sz="2000" dirty="0"/>
              <a:t>            ROUND(AVG(</a:t>
            </a:r>
            <a:r>
              <a:rPr lang="en-US" sz="2000" dirty="0" err="1"/>
              <a:t>unit_price</a:t>
            </a:r>
            <a:r>
              <a:rPr lang="en-US" sz="2000" dirty="0"/>
              <a:t>), 2)  AS </a:t>
            </a:r>
            <a:r>
              <a:rPr lang="en-US" sz="2000" dirty="0" err="1"/>
              <a:t>average_price</a:t>
            </a:r>
            <a:endParaRPr lang="en-US" sz="2000" dirty="0"/>
          </a:p>
          <a:p>
            <a:r>
              <a:rPr lang="en-US" sz="2000" dirty="0"/>
              <a:t>FROM   sale;</a:t>
            </a:r>
          </a:p>
          <a:p>
            <a:r>
              <a:rPr lang="en-US" sz="2000" dirty="0"/>
              <a:t>ROUND(x, 2) tidies up long decimals.</a:t>
            </a:r>
            <a:endParaRPr lang="en-UG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907818-4A30-3C1E-CB41-4C1BF2C1B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426965"/>
              </p:ext>
            </p:extLst>
          </p:nvPr>
        </p:nvGraphicFramePr>
        <p:xfrm>
          <a:off x="1030706" y="2514600"/>
          <a:ext cx="8128000" cy="1828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1966163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25508560"/>
                    </a:ext>
                  </a:extLst>
                </a:gridCol>
              </a:tblGrid>
              <a:tr h="280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Gives you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996036"/>
                  </a:ext>
                </a:extLst>
              </a:tr>
              <a:tr h="280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COUNT()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how many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236023"/>
                  </a:ext>
                </a:extLst>
              </a:tr>
              <a:tr h="280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SUM()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5726966"/>
                  </a:ext>
                </a:extLst>
              </a:tr>
              <a:tr h="280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AVG()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average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9822487"/>
                  </a:ext>
                </a:extLst>
              </a:tr>
              <a:tr h="280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MIN()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smallest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68885"/>
                  </a:ext>
                </a:extLst>
              </a:tr>
              <a:tr h="2807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MAX()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largest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90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8048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2FA33-3BCB-CB39-2BEF-4929C1619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5D5F9-1067-5E24-5128-18EE6C3F6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Aggregates work with WHERE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9E0F0-A877-40CD-503A-87E1207FD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COUNT(*) AS </a:t>
            </a:r>
            <a:r>
              <a:rPr lang="en-US" dirty="0" err="1"/>
              <a:t>kampala_sales</a:t>
            </a:r>
            <a:endParaRPr lang="en-US" dirty="0"/>
          </a:p>
          <a:p>
            <a:r>
              <a:rPr lang="en-US" dirty="0"/>
              <a:t>FROM   sale</a:t>
            </a:r>
          </a:p>
          <a:p>
            <a:r>
              <a:rPr lang="en-US" dirty="0"/>
              <a:t>WHERE  campus = 'Kampala’;</a:t>
            </a:r>
          </a:p>
          <a:p>
            <a:r>
              <a:rPr lang="en-US" b="1" dirty="0"/>
              <a:t>One small thing to know:</a:t>
            </a:r>
          </a:p>
          <a:p>
            <a:r>
              <a:rPr lang="en-US" dirty="0"/>
              <a:t>COUNT(*) counts </a:t>
            </a:r>
            <a:r>
              <a:rPr lang="en-US" b="1" dirty="0"/>
              <a:t>every row</a:t>
            </a:r>
            <a:endParaRPr lang="en-US" dirty="0"/>
          </a:p>
          <a:p>
            <a:r>
              <a:rPr lang="en-US" dirty="0"/>
              <a:t>COUNT(column) counts only rows where that column is </a:t>
            </a:r>
            <a:r>
              <a:rPr lang="en-US" b="1" dirty="0"/>
              <a:t>not NULL</a:t>
            </a:r>
            <a:endParaRPr lang="en-US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949922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A40B-1CCD-065C-EBAA-AD7B87F29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C3BAB-828E-BC97-440D-769CFE700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Query 9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066B3-8FE1-6612-4593-50C4FA918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</a:t>
            </a:r>
            <a:r>
              <a:rPr lang="en-US" b="1" dirty="0"/>
              <a:t>total revenue</a:t>
            </a:r>
            <a:r>
              <a:rPr lang="en-US" dirty="0"/>
              <a:t> (</a:t>
            </a:r>
            <a:r>
              <a:rPr lang="en-US" dirty="0" err="1"/>
              <a:t>unit_price</a:t>
            </a:r>
            <a:r>
              <a:rPr lang="en-US" dirty="0"/>
              <a:t> * quantity) for </a:t>
            </a:r>
            <a:r>
              <a:rPr lang="en-US" b="1" dirty="0"/>
              <a:t>Snacks</a:t>
            </a:r>
            <a:r>
              <a:rPr lang="en-US" dirty="0"/>
              <a:t> only?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092525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927FA-4378-43F9-8646-E5479F9BF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92BD-1871-ED71-09A6-9320D64E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EBE5E-2356-E89C-F35D-F797584C3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answer </a:t>
            </a:r>
            <a:r>
              <a:rPr lang="en-US" b="1" dirty="0"/>
              <a:t>per group</a:t>
            </a:r>
            <a:r>
              <a:rPr lang="en-US" dirty="0"/>
              <a:t>, instead of one answer overall.</a:t>
            </a:r>
          </a:p>
          <a:p>
            <a:r>
              <a:rPr lang="en-US" b="1" dirty="0"/>
              <a:t>-- Total for the whole shop:</a:t>
            </a:r>
          </a:p>
          <a:p>
            <a:r>
              <a:rPr lang="en-US" dirty="0"/>
              <a:t>SELECT SUM(</a:t>
            </a:r>
            <a:r>
              <a:rPr lang="en-US" dirty="0" err="1"/>
              <a:t>unit_price</a:t>
            </a:r>
            <a:r>
              <a:rPr lang="en-US" dirty="0"/>
              <a:t> * quantity) AS revenue FROM sale;</a:t>
            </a:r>
          </a:p>
          <a:p>
            <a:r>
              <a:rPr lang="en-US" b="1" dirty="0"/>
              <a:t>-- Total for EACH category:</a:t>
            </a:r>
          </a:p>
          <a:p>
            <a:r>
              <a:rPr lang="en-US" dirty="0"/>
              <a:t>SELECT   category,</a:t>
            </a:r>
          </a:p>
          <a:p>
            <a:r>
              <a:rPr lang="en-US" dirty="0"/>
              <a:t>         SUM(</a:t>
            </a:r>
            <a:r>
              <a:rPr lang="en-US" dirty="0" err="1"/>
              <a:t>unit_price</a:t>
            </a:r>
            <a:r>
              <a:rPr lang="en-US" dirty="0"/>
              <a:t> * quantity) AS revenue</a:t>
            </a:r>
          </a:p>
          <a:p>
            <a:r>
              <a:rPr lang="en-US" dirty="0"/>
              <a:t>FROM     sale</a:t>
            </a:r>
          </a:p>
          <a:p>
            <a:r>
              <a:rPr lang="en-US" dirty="0"/>
              <a:t>GROUP BY category;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252557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AB0E7-3C6B-5F16-71C0-44F646E2F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F26F-2F6D-CF80-89DA-5C8FB8CB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GROUP BY rule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BA48E-FC03-D4B2-CF80-24767B50D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SELECT list you may only put:</a:t>
            </a:r>
          </a:p>
          <a:p>
            <a:pPr lvl="1"/>
            <a:r>
              <a:rPr lang="en-US" dirty="0"/>
              <a:t>the columns you </a:t>
            </a:r>
            <a:r>
              <a:rPr lang="en-US" b="1" dirty="0"/>
              <a:t>grouped by</a:t>
            </a:r>
            <a:r>
              <a:rPr lang="en-US" dirty="0"/>
              <a:t>, and</a:t>
            </a:r>
          </a:p>
          <a:p>
            <a:pPr lvl="1"/>
            <a:r>
              <a:rPr lang="en-US" dirty="0"/>
              <a:t>aggregate functions</a:t>
            </a:r>
          </a:p>
          <a:p>
            <a:r>
              <a:rPr lang="en-US" dirty="0"/>
              <a:t>Anything else gives an error:</a:t>
            </a:r>
          </a:p>
          <a:p>
            <a:r>
              <a:rPr lang="en-US" dirty="0"/>
              <a:t>SELECT   category, </a:t>
            </a:r>
            <a:r>
              <a:rPr lang="en-US" dirty="0" err="1"/>
              <a:t>item_name</a:t>
            </a:r>
            <a:r>
              <a:rPr lang="en-US" dirty="0"/>
              <a:t>, COUNT(*)</a:t>
            </a:r>
          </a:p>
          <a:p>
            <a:r>
              <a:rPr lang="en-US" dirty="0"/>
              <a:t>FROM     sale</a:t>
            </a:r>
          </a:p>
          <a:p>
            <a:r>
              <a:rPr lang="en-US" dirty="0"/>
              <a:t>GROUP BY category;                        -- error</a:t>
            </a:r>
          </a:p>
          <a:p>
            <a:r>
              <a:rPr lang="en-US" dirty="0"/>
              <a:t>Each category has many different </a:t>
            </a:r>
            <a:r>
              <a:rPr lang="en-US" dirty="0" err="1"/>
              <a:t>item_names</a:t>
            </a:r>
            <a:r>
              <a:rPr lang="en-US" dirty="0"/>
              <a:t> — MySQL cannot pick one for you.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643575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BE342-14DB-2C7D-C65F-CEC9532F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A54E0-FA97-1AE4-9333-487E1646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 with WHERE and ORDER BY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6E932-9E0D-6887-5BD7-28B27BBA4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  category,</a:t>
            </a:r>
          </a:p>
          <a:p>
            <a:r>
              <a:rPr lang="en-US" dirty="0"/>
              <a:t>         SUM(</a:t>
            </a:r>
            <a:r>
              <a:rPr lang="en-US" dirty="0" err="1"/>
              <a:t>unit_price</a:t>
            </a:r>
            <a:r>
              <a:rPr lang="en-US" dirty="0"/>
              <a:t> * quantity) AS revenue</a:t>
            </a:r>
          </a:p>
          <a:p>
            <a:r>
              <a:rPr lang="en-US" dirty="0"/>
              <a:t>FROM     sale</a:t>
            </a:r>
          </a:p>
          <a:p>
            <a:r>
              <a:rPr lang="en-US" dirty="0"/>
              <a:t>WHERE    status = 'PAID'</a:t>
            </a:r>
          </a:p>
          <a:p>
            <a:r>
              <a:rPr lang="en-US" dirty="0"/>
              <a:t>GROUP BY category</a:t>
            </a:r>
          </a:p>
          <a:p>
            <a:r>
              <a:rPr lang="en-US" dirty="0"/>
              <a:t>ORDER BY revenue DESC;</a:t>
            </a:r>
          </a:p>
          <a:p>
            <a:r>
              <a:rPr lang="en-US" b="1" dirty="0"/>
              <a:t>WHERE removes rows first. What's left is then grouped.</a:t>
            </a: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283595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70028-CB33-9739-0378-157B0654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5A019-6FCC-0D20-3197-D59C167B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Query 10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2530A-6A2E-8421-971D-2FCAF5090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</a:t>
            </a:r>
            <a:r>
              <a:rPr lang="en-US" b="1" dirty="0"/>
              <a:t>average unit price for each campus</a:t>
            </a:r>
            <a:r>
              <a:rPr lang="en-US" dirty="0"/>
              <a:t>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0002327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90A8F-2D3B-CE03-6A0F-E684366E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8718-A42C-29C2-A7F1-C2659817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HAVING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3F852-B8B6-49F0-AB21-81C415959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WHERE filters rows, before grouping. HAVING filters groups, after grouping.</a:t>
            </a:r>
          </a:p>
          <a:p>
            <a:r>
              <a:rPr lang="en-US" dirty="0"/>
              <a:t>SELECT   category,</a:t>
            </a:r>
          </a:p>
          <a:p>
            <a:r>
              <a:rPr lang="en-US" dirty="0"/>
              <a:t>         SUM(</a:t>
            </a:r>
            <a:r>
              <a:rPr lang="en-US" dirty="0" err="1"/>
              <a:t>unit_price</a:t>
            </a:r>
            <a:r>
              <a:rPr lang="en-US" dirty="0"/>
              <a:t> * quantity) AS revenue</a:t>
            </a:r>
          </a:p>
          <a:p>
            <a:r>
              <a:rPr lang="en-US" dirty="0"/>
              <a:t>FROM     sale</a:t>
            </a:r>
          </a:p>
          <a:p>
            <a:r>
              <a:rPr lang="en-US" dirty="0"/>
              <a:t>GROUP BY category</a:t>
            </a:r>
          </a:p>
          <a:p>
            <a:r>
              <a:rPr lang="en-US" dirty="0"/>
              <a:t>HAVING   SUM(</a:t>
            </a:r>
            <a:r>
              <a:rPr lang="en-US" dirty="0" err="1"/>
              <a:t>unit_price</a:t>
            </a:r>
            <a:r>
              <a:rPr lang="en-US" dirty="0"/>
              <a:t> * quantity) &gt; 50000;</a:t>
            </a:r>
          </a:p>
          <a:p>
            <a:r>
              <a:rPr lang="en-US" dirty="0"/>
              <a:t>--&gt; only categories that made more than 50,000 in total.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551118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2EEA-6774-014D-3B77-0AE85C91B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1DAC-F786-7162-3BA3-752336140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Both together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A43F8-6F9D-A352-878D-6F71664B5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  category,</a:t>
            </a:r>
          </a:p>
          <a:p>
            <a:r>
              <a:rPr lang="en-US" dirty="0"/>
              <a:t>         COUNT(*) AS sales</a:t>
            </a:r>
          </a:p>
          <a:p>
            <a:r>
              <a:rPr lang="en-US" dirty="0"/>
              <a:t>FROM     sale</a:t>
            </a:r>
          </a:p>
          <a:p>
            <a:r>
              <a:rPr lang="en-US" dirty="0"/>
              <a:t>WHERE    status = 'PAID'  -- keep only paid sales(rows)</a:t>
            </a:r>
          </a:p>
          <a:p>
            <a:r>
              <a:rPr lang="en-US" dirty="0"/>
              <a:t>GROUP BY category</a:t>
            </a:r>
          </a:p>
          <a:p>
            <a:r>
              <a:rPr lang="en-US" dirty="0"/>
              <a:t>HAVING   COUNT(*) &gt; 3   -- keep only busy categories (groups)</a:t>
            </a:r>
          </a:p>
          <a:p>
            <a:r>
              <a:rPr lang="en-US" dirty="0"/>
              <a:t>ORDER BY sales DESC;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112159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F0852-483E-2DE4-25C4-A85707E6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D0D7D-AE2E-7523-EBB1-2107F09C8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Query 11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B957C-F9D9-7E35-7671-37579CCD2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each </a:t>
            </a:r>
            <a:r>
              <a:rPr lang="en-US" b="1" dirty="0"/>
              <a:t>campus</a:t>
            </a:r>
            <a:r>
              <a:rPr lang="en-US" dirty="0"/>
              <a:t> and its </a:t>
            </a:r>
            <a:r>
              <a:rPr lang="en-US" b="1" dirty="0"/>
              <a:t>total revenue</a:t>
            </a:r>
            <a:r>
              <a:rPr lang="en-US" dirty="0"/>
              <a:t>, but only for campuses whose total revenue is above </a:t>
            </a:r>
            <a:r>
              <a:rPr lang="en-US" b="1" dirty="0"/>
              <a:t>200,000</a:t>
            </a:r>
            <a:r>
              <a:rPr lang="en-US" dirty="0"/>
              <a:t>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024112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ADE54-C12D-82C9-31B0-A9FEEAC0E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0AD6-3AFD-E46C-CCFF-5EABB3E9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this slide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6F366-C0E4-78A9-1323-61F3931C0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SELECT       which columns</a:t>
            </a:r>
          </a:p>
          <a:p>
            <a:r>
              <a:rPr lang="en-US" dirty="0"/>
              <a:t>FROM          which table</a:t>
            </a:r>
          </a:p>
          <a:p>
            <a:r>
              <a:rPr lang="en-US" dirty="0"/>
              <a:t>WHERE        which rows</a:t>
            </a:r>
          </a:p>
          <a:p>
            <a:r>
              <a:rPr lang="en-US" dirty="0"/>
              <a:t>GROUP BY   how to group them</a:t>
            </a:r>
          </a:p>
          <a:p>
            <a:r>
              <a:rPr lang="en-US" dirty="0"/>
              <a:t>HAVING       which groups to keep</a:t>
            </a:r>
          </a:p>
          <a:p>
            <a:r>
              <a:rPr lang="en-US" dirty="0"/>
              <a:t>ORDER BY    how to sort</a:t>
            </a:r>
          </a:p>
          <a:p>
            <a:r>
              <a:rPr lang="en-US" dirty="0"/>
              <a:t>LIMIT           how many to show</a:t>
            </a:r>
          </a:p>
          <a:p>
            <a:endParaRPr lang="en-US" dirty="0"/>
          </a:p>
          <a:p>
            <a:r>
              <a:rPr lang="en-US" b="1" dirty="0"/>
              <a:t>Always write them in this order.</a:t>
            </a: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3042481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4D35-6801-677C-D8B3-EBA9FF38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combined </a:t>
            </a:r>
            <a:endParaRPr lang="en-U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F1CF3-D5FB-FE0C-1B22-776D11BEC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SELECT   category,</a:t>
            </a:r>
          </a:p>
          <a:p>
            <a:r>
              <a:rPr lang="en-US" dirty="0"/>
              <a:t>         COUNT(*)                          AS sales,</a:t>
            </a:r>
          </a:p>
          <a:p>
            <a:r>
              <a:rPr lang="en-US" dirty="0"/>
              <a:t>         SUM(</a:t>
            </a:r>
            <a:r>
              <a:rPr lang="en-US" dirty="0" err="1"/>
              <a:t>unit_price</a:t>
            </a:r>
            <a:r>
              <a:rPr lang="en-US" dirty="0"/>
              <a:t> * quantity) AS revenue</a:t>
            </a:r>
          </a:p>
          <a:p>
            <a:r>
              <a:rPr lang="en-US" dirty="0"/>
              <a:t>FROM     sale</a:t>
            </a:r>
          </a:p>
          <a:p>
            <a:r>
              <a:rPr lang="en-US" dirty="0"/>
              <a:t>WHERE    status = 'PAID'</a:t>
            </a:r>
          </a:p>
          <a:p>
            <a:r>
              <a:rPr lang="en-US" dirty="0"/>
              <a:t>GROUP BY category</a:t>
            </a:r>
          </a:p>
          <a:p>
            <a:r>
              <a:rPr lang="en-US" dirty="0"/>
              <a:t>HAVING   COUNT(*) &gt; 2</a:t>
            </a:r>
          </a:p>
          <a:p>
            <a:r>
              <a:rPr lang="en-US" dirty="0"/>
              <a:t>ORDER BY revenue DESC</a:t>
            </a:r>
          </a:p>
          <a:p>
            <a:r>
              <a:rPr lang="en-US" dirty="0"/>
              <a:t>LIMIT    3;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9749595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rgbClr val="000000"/>
      </a:dk1>
      <a:lt1>
        <a:srgbClr val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1798</Words>
  <Application>Microsoft Office PowerPoint</Application>
  <PresentationFormat>Widescreen</PresentationFormat>
  <Paragraphs>306</Paragraphs>
  <Slides>38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Noto Sans Symbols</vt:lpstr>
      <vt:lpstr>Trebuchet MS</vt:lpstr>
      <vt:lpstr>Office Theme</vt:lpstr>
      <vt:lpstr>PowerPoint Presentation</vt:lpstr>
      <vt:lpstr>What we'll cover</vt:lpstr>
      <vt:lpstr>Our table today</vt:lpstr>
      <vt:lpstr>Always look first.</vt:lpstr>
      <vt:lpstr>SELECT and WHERE</vt:lpstr>
      <vt:lpstr>Comparison operators</vt:lpstr>
      <vt:lpstr>Calculated columns and AS</vt:lpstr>
      <vt:lpstr>Practice Query 1</vt:lpstr>
      <vt:lpstr>BETWEEN</vt:lpstr>
      <vt:lpstr>Practice Query 2</vt:lpstr>
      <vt:lpstr>IN</vt:lpstr>
      <vt:lpstr>Practice Query 3</vt:lpstr>
      <vt:lpstr>LIKE</vt:lpstr>
      <vt:lpstr>Practice Query 4</vt:lpstr>
      <vt:lpstr>NULL</vt:lpstr>
      <vt:lpstr>The one NULL rule</vt:lpstr>
      <vt:lpstr>Practice Query 5</vt:lpstr>
      <vt:lpstr>DISTINCT</vt:lpstr>
      <vt:lpstr>Practice Query 6</vt:lpstr>
      <vt:lpstr>AND, OR, NOT</vt:lpstr>
      <vt:lpstr>Use brackets when you mix</vt:lpstr>
      <vt:lpstr>Practice Query 7</vt:lpstr>
      <vt:lpstr>ORDER BY</vt:lpstr>
      <vt:lpstr>LIMIT</vt:lpstr>
      <vt:lpstr>Practice Query 8</vt:lpstr>
      <vt:lpstr>Aggregate functions</vt:lpstr>
      <vt:lpstr>Aggregates work with WHERE</vt:lpstr>
      <vt:lpstr>Practice Query 9</vt:lpstr>
      <vt:lpstr>GROUP BY</vt:lpstr>
      <vt:lpstr>The GROUP BY rule</vt:lpstr>
      <vt:lpstr>GROUP BY with WHERE and ORDER BY</vt:lpstr>
      <vt:lpstr>Practice Query 10</vt:lpstr>
      <vt:lpstr>HAVING</vt:lpstr>
      <vt:lpstr>Both together</vt:lpstr>
      <vt:lpstr>Practice Query 11</vt:lpstr>
      <vt:lpstr>Remember this slide</vt:lpstr>
      <vt:lpstr>All combined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Moses A</cp:lastModifiedBy>
  <cp:revision>21</cp:revision>
  <dcterms:created xsi:type="dcterms:W3CDTF">2023-08-23T08:11:39Z</dcterms:created>
  <dcterms:modified xsi:type="dcterms:W3CDTF">2026-09-02T20:50:26Z</dcterms:modified>
</cp:coreProperties>
</file>